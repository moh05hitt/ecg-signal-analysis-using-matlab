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7"/>
  </p:notesMasterIdLst>
  <p:sldIdLst>
    <p:sldId id="256" r:id="rId2"/>
    <p:sldId id="283" r:id="rId3"/>
    <p:sldId id="284" r:id="rId4"/>
    <p:sldId id="285" r:id="rId5"/>
    <p:sldId id="278" r:id="rId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669" autoAdjust="0"/>
  </p:normalViewPr>
  <p:slideViewPr>
    <p:cSldViewPr snapToGrid="0">
      <p:cViewPr varScale="1">
        <p:scale>
          <a:sx n="78" d="100"/>
          <a:sy n="78" d="100"/>
        </p:scale>
        <p:origin x="850"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226661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pic>
        <p:nvPicPr>
          <p:cNvPr id="22" name="Google Shape;22;p3" descr="F:\Niranjan Work\A I S S M S\AISSMS PPT Profile Page\PPT Design 6\04.jpg04"/>
          <p:cNvPicPr preferRelativeResize="0"/>
          <p:nvPr/>
        </p:nvPicPr>
        <p:blipFill rotWithShape="1">
          <a:blip r:embed="rId2">
            <a:alphaModFix/>
          </a:blip>
          <a:srcRect/>
          <a:stretch/>
        </p:blipFill>
        <p:spPr>
          <a:xfrm>
            <a:off x="0" y="0"/>
            <a:ext cx="12186920" cy="6858635"/>
          </a:xfrm>
          <a:prstGeom prst="rect">
            <a:avLst/>
          </a:prstGeom>
          <a:noFill/>
          <a:ln>
            <a:noFill/>
          </a:ln>
        </p:spPr>
      </p:pic>
      <p:sp>
        <p:nvSpPr>
          <p:cNvPr id="23" name="Google Shape;23;p3"/>
          <p:cNvSpPr txBox="1">
            <a:spLocks noGrp="1"/>
          </p:cNvSpPr>
          <p:nvPr>
            <p:ph type="title"/>
          </p:nvPr>
        </p:nvSpPr>
        <p:spPr>
          <a:xfrm>
            <a:off x="257287" y="510186"/>
            <a:ext cx="11350214" cy="8560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4400"/>
              <a:buFont typeface="Calibri"/>
              <a:buNone/>
              <a:defRPr b="1">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257287" y="1527586"/>
            <a:ext cx="11834308" cy="47816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10232616" y="6481089"/>
            <a:ext cx="10127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743772" y="6401370"/>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1246821" y="6519134"/>
            <a:ext cx="721360" cy="26530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3" descr="IOIT 2"/>
          <p:cNvPicPr preferRelativeResize="0"/>
          <p:nvPr/>
        </p:nvPicPr>
        <p:blipFill rotWithShape="1">
          <a:blip r:embed="rId3">
            <a:alphaModFix/>
          </a:blip>
          <a:srcRect b="15067"/>
          <a:stretch/>
        </p:blipFill>
        <p:spPr>
          <a:xfrm>
            <a:off x="5125421" y="6401370"/>
            <a:ext cx="2098040" cy="38766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0"/>
          <p:cNvSpPr>
            <a:spLocks noGrp="1"/>
          </p:cNvSpPr>
          <p:nvPr>
            <p:ph type="pic" idx="2"/>
          </p:nvPr>
        </p:nvSpPr>
        <p:spPr>
          <a:xfrm>
            <a:off x="5183188" y="987425"/>
            <a:ext cx="6172200" cy="4873625"/>
          </a:xfrm>
          <a:prstGeom prst="rect">
            <a:avLst/>
          </a:prstGeom>
          <a:noFill/>
          <a:ln>
            <a:noFill/>
          </a:ln>
        </p:spPr>
      </p:sp>
      <p:sp>
        <p:nvSpPr>
          <p:cNvPr id="70" name="Google Shape;70;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14" descr="F:\Niranjan Work\A I S S M S\AISSMS PPT Profile Page\PPT Design 6\01.jpg01"/>
          <p:cNvPicPr preferRelativeResize="0"/>
          <p:nvPr/>
        </p:nvPicPr>
        <p:blipFill rotWithShape="1">
          <a:blip r:embed="rId3">
            <a:alphaModFix/>
          </a:blip>
          <a:srcRect/>
          <a:stretch/>
        </p:blipFill>
        <p:spPr>
          <a:xfrm>
            <a:off x="108865" y="-550545"/>
            <a:ext cx="12189460" cy="6859270"/>
          </a:xfrm>
          <a:prstGeom prst="rect">
            <a:avLst/>
          </a:prstGeom>
          <a:noFill/>
          <a:ln>
            <a:noFill/>
          </a:ln>
        </p:spPr>
      </p:pic>
      <p:sp>
        <p:nvSpPr>
          <p:cNvPr id="98" name="Google Shape;98;p14"/>
          <p:cNvSpPr txBox="1">
            <a:spLocks noGrp="1"/>
          </p:cNvSpPr>
          <p:nvPr>
            <p:ph type="ctrTitle"/>
          </p:nvPr>
        </p:nvSpPr>
        <p:spPr>
          <a:xfrm>
            <a:off x="1670311" y="2879090"/>
            <a:ext cx="8851378" cy="1100455"/>
          </a:xfrm>
          <a:prstGeom prst="rect">
            <a:avLst/>
          </a:prstGeom>
          <a:noFill/>
          <a:ln>
            <a:noFill/>
          </a:ln>
        </p:spPr>
        <p:txBody>
          <a:bodyPr spcFirstLastPara="1" wrap="square" lIns="91425" tIns="45700" rIns="91425" bIns="45700" anchor="b" anchorCtr="0">
            <a:noAutofit/>
          </a:bodyPr>
          <a:lstStyle/>
          <a:p>
            <a:pPr>
              <a:buClr>
                <a:srgbClr val="FF0000"/>
              </a:buClr>
              <a:buSzPts val="6600"/>
            </a:pPr>
            <a:r>
              <a:rPr lang="en-US" sz="4000" dirty="0">
                <a:solidFill>
                  <a:srgbClr val="FF0000"/>
                </a:solidFill>
              </a:rPr>
              <a:t>Title:</a:t>
            </a:r>
            <a:r>
              <a:rPr lang="en-US" sz="4000" dirty="0"/>
              <a:t> ECG Signal Analysis Using MATLAB</a:t>
            </a:r>
            <a:br>
              <a:rPr lang="en-US" sz="4000" dirty="0"/>
            </a:br>
            <a:endParaRPr sz="4000" dirty="0">
              <a:solidFill>
                <a:srgbClr val="FF0000"/>
              </a:solidFill>
            </a:endParaRPr>
          </a:p>
        </p:txBody>
      </p:sp>
      <p:sp>
        <p:nvSpPr>
          <p:cNvPr id="99" name="Google Shape;99;p14"/>
          <p:cNvSpPr txBox="1"/>
          <p:nvPr/>
        </p:nvSpPr>
        <p:spPr>
          <a:xfrm>
            <a:off x="1783994" y="4667693"/>
            <a:ext cx="8839200" cy="906252"/>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b" anchorCtr="0">
            <a:noAutofit/>
          </a:bodyPr>
          <a:lstStyle/>
          <a:p>
            <a:pPr lvl="0">
              <a:lnSpc>
                <a:spcPct val="90000"/>
              </a:lnSpc>
              <a:buClr>
                <a:schemeClr val="lt1"/>
              </a:buClr>
              <a:buSzPts val="2400"/>
            </a:pPr>
            <a:r>
              <a:rPr lang="en-US" sz="1800" b="1" dirty="0">
                <a:solidFill>
                  <a:schemeClr val="lt1"/>
                </a:solidFill>
              </a:rPr>
              <a:t>Mohit Suryavanshi PRN : 23310115</a:t>
            </a:r>
          </a:p>
          <a:p>
            <a:pPr lvl="0">
              <a:lnSpc>
                <a:spcPct val="90000"/>
              </a:lnSpc>
              <a:buClr>
                <a:schemeClr val="lt1"/>
              </a:buClr>
              <a:buSzPts val="2400"/>
            </a:pPr>
            <a:r>
              <a:rPr lang="en-US" sz="1800" b="1" dirty="0">
                <a:solidFill>
                  <a:schemeClr val="lt1"/>
                </a:solidFill>
              </a:rPr>
              <a:t>Mahesh Shinde  PRN: 22310112 </a:t>
            </a:r>
          </a:p>
          <a:p>
            <a:pPr lvl="0">
              <a:lnSpc>
                <a:spcPct val="90000"/>
              </a:lnSpc>
              <a:buClr>
                <a:schemeClr val="lt1"/>
              </a:buClr>
              <a:buSzPts val="2400"/>
            </a:pPr>
            <a:r>
              <a:rPr lang="en-US" sz="1800" b="1" dirty="0">
                <a:solidFill>
                  <a:schemeClr val="lt1"/>
                </a:solidFill>
              </a:rPr>
              <a:t>Harshad Shelke PRN: 24320017</a:t>
            </a:r>
            <a:endParaRPr sz="1800" b="1" i="0" u="none" strike="noStrike" cap="none" dirty="0">
              <a:solidFill>
                <a:schemeClr val="lt1"/>
              </a:solidFill>
              <a:latin typeface="Arial"/>
              <a:ea typeface="Arial"/>
              <a:cs typeface="Arial"/>
              <a:sym typeface="Arial"/>
            </a:endParaRPr>
          </a:p>
        </p:txBody>
      </p:sp>
      <p:pic>
        <p:nvPicPr>
          <p:cNvPr id="100" name="Google Shape;100;p14"/>
          <p:cNvPicPr preferRelativeResize="0"/>
          <p:nvPr/>
        </p:nvPicPr>
        <p:blipFill rotWithShape="1">
          <a:blip r:embed="rId4">
            <a:alphaModFix/>
          </a:blip>
          <a:srcRect/>
          <a:stretch/>
        </p:blipFill>
        <p:spPr>
          <a:xfrm>
            <a:off x="3631845" y="344673"/>
            <a:ext cx="5143499"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F644-A460-43EB-9124-71C1ED9C7368}"/>
              </a:ext>
            </a:extLst>
          </p:cNvPr>
          <p:cNvSpPr>
            <a:spLocks noGrp="1"/>
          </p:cNvSpPr>
          <p:nvPr>
            <p:ph type="title"/>
          </p:nvPr>
        </p:nvSpPr>
        <p:spPr/>
        <p:txBody>
          <a:bodyPr>
            <a:normAutofit/>
          </a:bodyPr>
          <a:lstStyle/>
          <a:p>
            <a:r>
              <a:rPr lang="en-US" sz="3200" dirty="0"/>
              <a:t>1. </a:t>
            </a:r>
            <a:r>
              <a:rPr lang="en-US" sz="3200" dirty="0">
                <a:solidFill>
                  <a:srgbClr val="FF0000"/>
                </a:solidFill>
                <a:latin typeface="Arial"/>
                <a:cs typeface="Arial"/>
                <a:sym typeface="Arial"/>
              </a:rPr>
              <a:t>Title </a:t>
            </a:r>
            <a:r>
              <a:rPr lang="en-US" sz="3200">
                <a:solidFill>
                  <a:srgbClr val="FF0000"/>
                </a:solidFill>
                <a:latin typeface="Arial"/>
                <a:cs typeface="Arial"/>
                <a:sym typeface="Arial"/>
              </a:rPr>
              <a:t>: </a:t>
            </a:r>
            <a:r>
              <a:rPr lang="en-US" sz="3200"/>
              <a:t>ECG Signal Analysis Using MATLAB</a:t>
            </a:r>
            <a:endParaRPr lang="en-IN" sz="3200" dirty="0"/>
          </a:p>
        </p:txBody>
      </p:sp>
      <p:sp>
        <p:nvSpPr>
          <p:cNvPr id="3" name="Text Placeholder 2">
            <a:extLst>
              <a:ext uri="{FF2B5EF4-FFF2-40B4-BE49-F238E27FC236}">
                <a16:creationId xmlns:a16="http://schemas.microsoft.com/office/drawing/2014/main" id="{07E48EAE-D979-43C8-99BF-04D0891E8F44}"/>
              </a:ext>
            </a:extLst>
          </p:cNvPr>
          <p:cNvSpPr>
            <a:spLocks noGrp="1"/>
          </p:cNvSpPr>
          <p:nvPr>
            <p:ph type="body" idx="1"/>
          </p:nvPr>
        </p:nvSpPr>
        <p:spPr/>
        <p:txBody>
          <a:bodyPr>
            <a:normAutofit/>
          </a:bodyPr>
          <a:lstStyle/>
          <a:p>
            <a:pPr>
              <a:buFont typeface="Wingdings" panose="05000000000000000000" pitchFamily="2" charset="2"/>
              <a:buChar char="q"/>
            </a:pPr>
            <a:r>
              <a:rPr lang="en-US" b="1" dirty="0"/>
              <a:t>Problem Statement:</a:t>
            </a:r>
            <a:r>
              <a:rPr lang="en-US" dirty="0"/>
              <a:t> Cardiovascular diseases are one of the leading causes of health issues worldwide. Manual analysis of ECG signals is time-consuming and prone to human error, especially when dealing with long-term recordings.</a:t>
            </a:r>
            <a:endParaRPr lang="en-US" b="1" dirty="0"/>
          </a:p>
          <a:p>
            <a:pPr marL="114300" indent="0">
              <a:buNone/>
            </a:pPr>
            <a:r>
              <a:rPr lang="en-US" b="1" dirty="0"/>
              <a:t> </a:t>
            </a:r>
          </a:p>
          <a:p>
            <a:pPr>
              <a:buFont typeface="Wingdings" panose="05000000000000000000" pitchFamily="2" charset="2"/>
              <a:buChar char="q"/>
            </a:pPr>
            <a:r>
              <a:rPr lang="en-US" b="1" dirty="0"/>
              <a:t>Introduction:</a:t>
            </a:r>
            <a:r>
              <a:rPr lang="en-US" dirty="0"/>
              <a:t> An Electrocardiogram (ECG) is a graphical representation of the electrical activity of the heart. ECG signal analysis helps in diagnosing heart conditions such as arrhythmia, myocardial infarction, and abnormal heart rates. MATLAB provides powerful tools for signal processing, filtering, feature extraction, and visualization, making it suitable for automated ECG signal analysis. </a:t>
            </a:r>
          </a:p>
        </p:txBody>
      </p:sp>
      <p:sp>
        <p:nvSpPr>
          <p:cNvPr id="4" name="Slide Number Placeholder 3">
            <a:extLst>
              <a:ext uri="{FF2B5EF4-FFF2-40B4-BE49-F238E27FC236}">
                <a16:creationId xmlns:a16="http://schemas.microsoft.com/office/drawing/2014/main" id="{2D6D2ECF-74CF-4994-868F-7B383E651C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549395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F0064-C8DB-4C8D-91BB-A981AB348ABA}"/>
              </a:ext>
            </a:extLst>
          </p:cNvPr>
          <p:cNvSpPr>
            <a:spLocks noGrp="1"/>
          </p:cNvSpPr>
          <p:nvPr>
            <p:ph type="title"/>
          </p:nvPr>
        </p:nvSpPr>
        <p:spPr/>
        <p:txBody>
          <a:bodyPr>
            <a:normAutofit/>
          </a:bodyPr>
          <a:lstStyle/>
          <a:p>
            <a:r>
              <a:rPr lang="en-IN" dirty="0"/>
              <a:t>Objectives</a:t>
            </a:r>
          </a:p>
        </p:txBody>
      </p:sp>
      <p:sp>
        <p:nvSpPr>
          <p:cNvPr id="3" name="Text Placeholder 2">
            <a:extLst>
              <a:ext uri="{FF2B5EF4-FFF2-40B4-BE49-F238E27FC236}">
                <a16:creationId xmlns:a16="http://schemas.microsoft.com/office/drawing/2014/main" id="{BC8458AB-A0FE-4579-954D-E00E029CDB61}"/>
              </a:ext>
            </a:extLst>
          </p:cNvPr>
          <p:cNvSpPr>
            <a:spLocks noGrp="1"/>
          </p:cNvSpPr>
          <p:nvPr>
            <p:ph type="body" idx="1"/>
          </p:nvPr>
        </p:nvSpPr>
        <p:spPr>
          <a:xfrm>
            <a:off x="257287" y="1527586"/>
            <a:ext cx="11842564" cy="5256856"/>
          </a:xfrm>
        </p:spPr>
        <p:txBody>
          <a:bodyPr>
            <a:normAutofit/>
          </a:bodyPr>
          <a:lstStyle/>
          <a:p>
            <a:pPr>
              <a:buFont typeface="Wingdings" panose="05000000000000000000" pitchFamily="2" charset="2"/>
              <a:buChar char="q"/>
            </a:pPr>
            <a:r>
              <a:rPr lang="en-US" b="1" dirty="0"/>
              <a:t>Clearly Defined Objectives:</a:t>
            </a:r>
          </a:p>
          <a:p>
            <a:pPr marL="114300" indent="0">
              <a:buNone/>
            </a:pPr>
            <a:r>
              <a:rPr lang="en-US" b="1" dirty="0"/>
              <a:t>1.</a:t>
            </a:r>
            <a:r>
              <a:rPr lang="en-US" dirty="0"/>
              <a:t> To analyze ECG signals using MATLAB. </a:t>
            </a:r>
          </a:p>
          <a:p>
            <a:pPr marL="114300" indent="0">
              <a:buNone/>
            </a:pPr>
            <a:r>
              <a:rPr lang="en-US" b="1" dirty="0"/>
              <a:t>2.</a:t>
            </a:r>
            <a:r>
              <a:rPr lang="en-US" dirty="0"/>
              <a:t> To detect and extract important ECG features.</a:t>
            </a:r>
          </a:p>
          <a:p>
            <a:pPr marL="114300" indent="0">
              <a:buNone/>
            </a:pPr>
            <a:endParaRPr lang="en-US" b="1" dirty="0"/>
          </a:p>
          <a:p>
            <a:pPr>
              <a:buFont typeface="Wingdings" panose="05000000000000000000" pitchFamily="2" charset="2"/>
              <a:buChar char="q"/>
            </a:pPr>
            <a:r>
              <a:rPr lang="en-US" b="1" dirty="0"/>
              <a:t>Specific Aims:</a:t>
            </a:r>
          </a:p>
          <a:p>
            <a:pPr>
              <a:buFont typeface="Wingdings" panose="05000000000000000000" pitchFamily="2" charset="2"/>
              <a:buChar char="q"/>
            </a:pPr>
            <a:r>
              <a:rPr lang="en-US" dirty="0"/>
              <a:t>To remove noise and artifacts from ECG signals using digital filters.</a:t>
            </a:r>
          </a:p>
          <a:p>
            <a:pPr>
              <a:buFont typeface="Wingdings" panose="05000000000000000000" pitchFamily="2" charset="2"/>
              <a:buChar char="q"/>
            </a:pPr>
            <a:r>
              <a:rPr lang="en-US" dirty="0"/>
              <a:t>To detect P, QRS, and T waves accurately. </a:t>
            </a:r>
          </a:p>
          <a:p>
            <a:pPr>
              <a:buFont typeface="Wingdings" panose="05000000000000000000" pitchFamily="2" charset="2"/>
              <a:buChar char="q"/>
            </a:pPr>
            <a:r>
              <a:rPr lang="en-US" dirty="0"/>
              <a:t>To calculate heart rate and other ECG parameters.</a:t>
            </a:r>
          </a:p>
        </p:txBody>
      </p:sp>
      <p:sp>
        <p:nvSpPr>
          <p:cNvPr id="4" name="Slide Number Placeholder 3">
            <a:extLst>
              <a:ext uri="{FF2B5EF4-FFF2-40B4-BE49-F238E27FC236}">
                <a16:creationId xmlns:a16="http://schemas.microsoft.com/office/drawing/2014/main" id="{485FABFB-E05E-4E5D-92F9-2C8A8F6115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682198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3332E-7907-4B84-9A06-8F90935A4734}"/>
              </a:ext>
            </a:extLst>
          </p:cNvPr>
          <p:cNvSpPr>
            <a:spLocks noGrp="1"/>
          </p:cNvSpPr>
          <p:nvPr>
            <p:ph type="title"/>
          </p:nvPr>
        </p:nvSpPr>
        <p:spPr/>
        <p:txBody>
          <a:bodyPr>
            <a:normAutofit/>
          </a:bodyPr>
          <a:lstStyle/>
          <a:p>
            <a:r>
              <a:rPr lang="en-IN" dirty="0"/>
              <a:t>Expected Outcomes</a:t>
            </a:r>
          </a:p>
        </p:txBody>
      </p:sp>
      <p:sp>
        <p:nvSpPr>
          <p:cNvPr id="3" name="Text Placeholder 2">
            <a:extLst>
              <a:ext uri="{FF2B5EF4-FFF2-40B4-BE49-F238E27FC236}">
                <a16:creationId xmlns:a16="http://schemas.microsoft.com/office/drawing/2014/main" id="{1A480AF2-4823-4380-9E2D-911B7C7C1076}"/>
              </a:ext>
            </a:extLst>
          </p:cNvPr>
          <p:cNvSpPr>
            <a:spLocks noGrp="1"/>
          </p:cNvSpPr>
          <p:nvPr>
            <p:ph type="body" idx="1"/>
          </p:nvPr>
        </p:nvSpPr>
        <p:spPr>
          <a:xfrm>
            <a:off x="257287" y="1219419"/>
            <a:ext cx="11800034" cy="5128395"/>
          </a:xfrm>
        </p:spPr>
        <p:txBody>
          <a:bodyPr>
            <a:normAutofit lnSpcReduction="10000"/>
          </a:bodyPr>
          <a:lstStyle/>
          <a:p>
            <a:pPr>
              <a:buFont typeface="Wingdings" panose="05000000000000000000" pitchFamily="2" charset="2"/>
              <a:buChar char="q"/>
            </a:pPr>
            <a:r>
              <a:rPr lang="en-US" b="1" dirty="0"/>
              <a:t> Anticipated Results and Benefits:</a:t>
            </a:r>
          </a:p>
          <a:p>
            <a:pPr>
              <a:buFont typeface="Wingdings" panose="05000000000000000000" pitchFamily="2" charset="2"/>
              <a:buChar char="q"/>
            </a:pPr>
            <a:r>
              <a:rPr lang="en-US" dirty="0"/>
              <a:t>Clean and noise-free ECG signals after filtering.</a:t>
            </a:r>
          </a:p>
          <a:p>
            <a:pPr>
              <a:buFont typeface="Wingdings" panose="05000000000000000000" pitchFamily="2" charset="2"/>
              <a:buChar char="q"/>
            </a:pPr>
            <a:r>
              <a:rPr lang="en-US" dirty="0"/>
              <a:t>Accurate detection of QRS complex and heart rate.</a:t>
            </a:r>
          </a:p>
          <a:p>
            <a:pPr>
              <a:buFont typeface="Wingdings" panose="05000000000000000000" pitchFamily="2" charset="2"/>
              <a:buChar char="q"/>
            </a:pPr>
            <a:r>
              <a:rPr lang="en-US" dirty="0"/>
              <a:t>Improved reliability and speed of ECG analysis.</a:t>
            </a:r>
            <a:endParaRPr lang="en-US" b="1" dirty="0"/>
          </a:p>
          <a:p>
            <a:pPr>
              <a:buFont typeface="Wingdings" panose="05000000000000000000" pitchFamily="2" charset="2"/>
              <a:buChar char="q"/>
            </a:pPr>
            <a:r>
              <a:rPr lang="en-US" b="1" dirty="0"/>
              <a:t>Potential Applications and Impact:</a:t>
            </a:r>
          </a:p>
          <a:p>
            <a:pPr>
              <a:buFont typeface="Wingdings" panose="05000000000000000000" pitchFamily="2" charset="2"/>
              <a:buChar char="q"/>
            </a:pPr>
            <a:r>
              <a:rPr lang="en-US" dirty="0"/>
              <a:t> Medical diagnosis and patient monitoring. </a:t>
            </a:r>
            <a:r>
              <a:rPr lang="en-IN" dirty="0"/>
              <a:t>Battery management and portable devices.</a:t>
            </a:r>
          </a:p>
          <a:p>
            <a:pPr>
              <a:buFont typeface="Wingdings" panose="05000000000000000000" pitchFamily="2" charset="2"/>
              <a:buChar char="q"/>
            </a:pPr>
            <a:r>
              <a:rPr lang="en-IN" dirty="0"/>
              <a:t>Wearable health monitoring devices.</a:t>
            </a:r>
            <a:endParaRPr lang="en-US" b="1" dirty="0"/>
          </a:p>
          <a:p>
            <a:pPr>
              <a:buFont typeface="Wingdings" panose="05000000000000000000" pitchFamily="2" charset="2"/>
              <a:buChar char="q"/>
            </a:pPr>
            <a:r>
              <a:rPr lang="en-US" dirty="0"/>
              <a:t> </a:t>
            </a:r>
            <a:r>
              <a:rPr lang="en-US" b="1" dirty="0"/>
              <a:t>Impact:</a:t>
            </a:r>
            <a:endParaRPr lang="en-US" dirty="0"/>
          </a:p>
          <a:p>
            <a:pPr>
              <a:buFont typeface="Wingdings" panose="05000000000000000000" pitchFamily="2" charset="2"/>
              <a:buChar char="q"/>
            </a:pPr>
            <a:r>
              <a:rPr lang="en-US" dirty="0"/>
              <a:t> Supports early detection of cardiac abnormalities. </a:t>
            </a:r>
          </a:p>
          <a:p>
            <a:pPr>
              <a:buFont typeface="Wingdings" panose="05000000000000000000" pitchFamily="2" charset="2"/>
              <a:buChar char="q"/>
            </a:pPr>
            <a:r>
              <a:rPr lang="en-US" dirty="0"/>
              <a:t>Reduces dependency on manual ECG interpretation.</a:t>
            </a:r>
          </a:p>
          <a:p>
            <a:pPr>
              <a:buFont typeface="Wingdings" panose="05000000000000000000" pitchFamily="2" charset="2"/>
              <a:buChar char="q"/>
            </a:pPr>
            <a:endParaRPr lang="en-US" dirty="0"/>
          </a:p>
          <a:p>
            <a:pPr>
              <a:buFont typeface="Wingdings" panose="05000000000000000000" pitchFamily="2" charset="2"/>
              <a:buChar char="q"/>
            </a:pPr>
            <a:endParaRPr lang="en-US" dirty="0"/>
          </a:p>
        </p:txBody>
      </p:sp>
      <p:sp>
        <p:nvSpPr>
          <p:cNvPr id="4" name="Slide Number Placeholder 3">
            <a:extLst>
              <a:ext uri="{FF2B5EF4-FFF2-40B4-BE49-F238E27FC236}">
                <a16:creationId xmlns:a16="http://schemas.microsoft.com/office/drawing/2014/main" id="{8B09865F-2E05-4E78-B85E-C560805DA3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967607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36" descr="F:\Niranjan Work\A I S S M S\AISSMS PPT Profile Page\PPT Design 6\06.jpg06"/>
          <p:cNvPicPr preferRelativeResize="0"/>
          <p:nvPr/>
        </p:nvPicPr>
        <p:blipFill rotWithShape="1">
          <a:blip r:embed="rId3">
            <a:alphaModFix/>
          </a:blip>
          <a:srcRect/>
          <a:stretch/>
        </p:blipFill>
        <p:spPr>
          <a:xfrm>
            <a:off x="1270" y="-317"/>
            <a:ext cx="12189460" cy="6859270"/>
          </a:xfrm>
          <a:prstGeom prst="rect">
            <a:avLst/>
          </a:prstGeom>
          <a:noFill/>
          <a:ln>
            <a:noFill/>
          </a:ln>
        </p:spPr>
      </p:pic>
      <p:sp>
        <p:nvSpPr>
          <p:cNvPr id="255" name="Google Shape;255;p36"/>
          <p:cNvSpPr txBox="1">
            <a:spLocks noGrp="1"/>
          </p:cNvSpPr>
          <p:nvPr>
            <p:ph type="ctrTitle"/>
          </p:nvPr>
        </p:nvSpPr>
        <p:spPr>
          <a:xfrm>
            <a:off x="1713865" y="3029585"/>
            <a:ext cx="8764905" cy="11004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2060"/>
              </a:buClr>
              <a:buSzPts val="6000"/>
              <a:buFont typeface="Arial"/>
              <a:buNone/>
            </a:pPr>
            <a:r>
              <a:rPr lang="en-US" b="1">
                <a:solidFill>
                  <a:srgbClr val="002060"/>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271</Words>
  <Application>Microsoft Office PowerPoint</Application>
  <PresentationFormat>Widescreen</PresentationFormat>
  <Paragraphs>32</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Wingdings</vt:lpstr>
      <vt:lpstr>Office Theme</vt:lpstr>
      <vt:lpstr>Title: ECG Signal Analysis Using MATLAB </vt:lpstr>
      <vt:lpstr>1. Title : ECG Signal Analysis Using MATLAB</vt:lpstr>
      <vt:lpstr>Objectives</vt:lpstr>
      <vt:lpstr>Expected Outcomes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ABC</dc:title>
  <dc:creator>Admin</dc:creator>
  <cp:lastModifiedBy>mohit suryavanshi</cp:lastModifiedBy>
  <cp:revision>20</cp:revision>
  <dcterms:modified xsi:type="dcterms:W3CDTF">2026-05-23T11:04:03Z</dcterms:modified>
</cp:coreProperties>
</file>